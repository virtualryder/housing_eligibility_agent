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Fourth proof of the pattern, and the second in State &amp; Local Government: the same governed chassis that runs pharmacovigilance, benefits eligibility, and financial-aid awarding now runs Housing Choice Voucher eligibility, from one reusable template. AWS shipped the governance primitives; we implement the regulated pattern natively — plus a live HUD income-limit integration — and prove it end-to-end.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non-negotiables that block ungoverned agents in housing eligibility. The rest of the deck shows how AgentCore + three last-mile controls satisfy all three.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'why now.' Previously teams hand-rolled identity, policy engines, audit. AgentCore makes those native.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of nine controls are native; three are the regulated 'last mile' we add. Positions the work as extending AgentCore, not competing with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Amber = the human step; navy = the consequential commit. The callout is the crux: a housing specialist commits, the agent never self-adjudicates. The HUD income-limit lookup runs on the non-PII county before masking.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full nine-control map — identical structure to the PV, benefits, and financial-aid agents. That's the reusable pattern; only the domain tools and one authoritative data source (HUD)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5 (authoritative HUD lookup on the non-PII county, then fail-closed masking) and step 6 (human gate) are the regulated controls; step 4 (Cedar deny-by-default) is the native spine.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reproducible, one-command demo stands the stack up, proves 30 checks in ENFORCE — including the live HUD income-limit lookup, the step-two recertify/overpayment workflows, and the no-self-fraud-referral forbid — and tears down with zero residual. The Runtime invoke (housing specialist full workflow, outsider denied) was also proven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Proven live: the agent runs on Runtime under a real Cognito identity, and governance holds on the real principal. Outsider proves deny-by-default even when the agent drives.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three are where a governed agent earns a program reviewer's — and a hearing officer's — trust. Each maps to a named requirement.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Ties the technical work to AWS strategy: wins regulated state/local deals, reusable (now proven four times), low-risk, credible because honest.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own the pattern and the proof; the housing authority owns certification, connectors, and the authoritative admission rules. HUD income limits are live and authoritative; the admission thresholds are illustrative configuration.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multiplier: one pattern, four verticals proven, two in SLG. The ask is a three-step path from internal demo to a scoped, synthetic-data pilot with a housing authority.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E2A47"/>
          </a:solidFill>
          <a:ln/>
        </p:spPr>
      </p:sp>
      <p:sp>
        <p:nvSpPr>
          <p:cNvPr id="3" name="Shape 1"/>
          <p:cNvSpPr/>
          <p:nvPr/>
        </p:nvSpPr>
        <p:spPr>
          <a:xfrm>
            <a:off x="8595360" y="-1737360"/>
            <a:ext cx="5669280" cy="566928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4" name="Shape 2"/>
          <p:cNvSpPr/>
          <p:nvPr/>
        </p:nvSpPr>
        <p:spPr>
          <a:xfrm>
            <a:off x="9509760" y="-822960"/>
            <a:ext cx="3840480" cy="3840480"/>
          </a:xfrm>
          <a:prstGeom prst="ellipse">
            <a:avLst/>
          </a:prstGeom>
          <a:solidFill>
            <a:srgbClr val="18466F"/>
          </a:solidFill>
          <a:ln/>
        </p:spPr>
      </p:sp>
      <p:sp>
        <p:nvSpPr>
          <p:cNvPr id="5" name="Shape 3"/>
          <p:cNvSpPr/>
          <p:nvPr/>
        </p:nvSpPr>
        <p:spPr>
          <a:xfrm>
            <a:off x="10287000" y="-45720"/>
            <a:ext cx="2286000" cy="22860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34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 AGENTCORE  ·  STATE &amp; LOCAL GOVERNMENT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03504" y="1783080"/>
            <a:ext cx="10607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Agentic AI,</a:t>
            </a:r>
            <a:endParaRPr lang="en-US" sz="38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 in Housing Choice Voucher Eligibility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640080" y="3794760"/>
            <a:ext cx="8869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Housing Choice Voucher (Section 8) / public-housing eligibility accelerator running natively on Amazon Bedrock AgentCore — identity-bound, deny-by-default with Cedar, live HUD income limits, and proven end-to-end on AWS. The fourth vertical built from one reusable template.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5029200"/>
            <a:ext cx="3072384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502920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/ 30 live governance checks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941064" y="5029200"/>
            <a:ext cx="2445106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41064" y="5029200"/>
            <a:ext cx="244510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native on Runtime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614770" y="5029200"/>
            <a:ext cx="3341218" cy="457200"/>
          </a:xfrm>
          <a:prstGeom prst="roundRect">
            <a:avLst>
              <a:gd name="adj" fmla="val 50000"/>
            </a:avLst>
          </a:prstGeom>
          <a:solidFill>
            <a:srgbClr val="143A5E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14770" y="5029200"/>
            <a:ext cx="3341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Fourth vertical from one template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6126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v1 ·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Housing authorities want agentic AI for eligibility. They can't deploy an ungoverned one.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716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that touches applicant PII and income records and issues eligibility determinations must be identity-bound, deny-by-default, auditable, and </a:t>
            </a:r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incapable of adjudicating on its own.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“Impressive demo” is not the bar — “will survive a program review and an informal hearing” is.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51460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9536" y="2825496"/>
            <a:ext cx="566928" cy="56692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59536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91056" y="284378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Touches income records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77824" y="36576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Names, SSNs, and household income flow through the housing application.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77824" y="5093208"/>
            <a:ext cx="2907792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5093208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Act · de-identification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15968" y="251460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08576" y="2825496"/>
            <a:ext cx="566928" cy="56692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08576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340096" y="284378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Creates records with consequences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626864" y="36576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determination notice affects a household's assistance and its right to an informal hearing.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626864" y="5093208"/>
            <a:ext cx="2907792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5093208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U.S. Housing Act · hearing rights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65008" y="2514600"/>
            <a:ext cx="3529584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357616" y="2825496"/>
            <a:ext cx="566928" cy="56692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357616" y="28254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089136" y="2843784"/>
            <a:ext cx="2340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Takes consequential actions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375904" y="365760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Committing a determination grants or denies housing assistance — accountably.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8375904" y="5093208"/>
            <a:ext cx="2907792" cy="457200"/>
          </a:xfrm>
          <a:prstGeom prst="roundRect">
            <a:avLst>
              <a:gd name="adj" fmla="val 16000"/>
            </a:avLst>
          </a:prstGeom>
          <a:solidFill>
            <a:srgbClr val="F4F7FA"/>
          </a:solidFill>
          <a:ln/>
        </p:spPr>
      </p:sp>
      <p:sp>
        <p:nvSpPr>
          <p:cNvPr id="25" name="Text 23"/>
          <p:cNvSpPr/>
          <p:nvPr/>
        </p:nvSpPr>
        <p:spPr>
          <a:xfrm>
            <a:off x="8375904" y="5093208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integrity · separation of duties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AWS just shipped the governance primitives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258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 AgentCore now provides — as native, managed services — the exact controls a governable agent needs. The gap between a “cool agent” and a “governable agent” just closed, on AWS.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298448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298448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76656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Identity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13232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JWT — Cognito or the authority's IdP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834640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66160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66160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2944368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Policy (Cedar)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2980944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Deny-by-default, forbid-wins authorization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102352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833872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833872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212080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Gateway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5248656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/ Lambda exposed as governed MCP tools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70064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101584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101584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479792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Runtime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7516368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Serverless, session-isolated agent hosting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637776" y="2651760"/>
            <a:ext cx="2084832" cy="288036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0369296" y="2971800"/>
            <a:ext cx="621792" cy="621792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10369296" y="29718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9747504" y="3749040"/>
            <a:ext cx="18653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Observability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9784080" y="4224528"/>
            <a:ext cx="17922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spans per agent &amp; tool step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66928" y="5715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native governance primitives — no platform to hand-build.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THESIS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 the regulated pattern natively — don't rebuild the platform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5394960" cy="3977640"/>
          </a:xfrm>
          <a:prstGeom prst="roundRect">
            <a:avLst>
              <a:gd name="adj" fmla="val 2299"/>
            </a:avLst>
          </a:prstGeom>
          <a:solidFill>
            <a:srgbClr val="143A5E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28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ON AGENTCORE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68680" y="2331720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23317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98448" y="229514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human + agent identity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68680" y="2843784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28437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98448" y="280720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authorization (Cedar)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8680" y="3355848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868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98448" y="331927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intersection (agent ∩ housing specialist)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68680" y="3867912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68680" y="3867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98448" y="383133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as governed endpoints (Gateway)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68680" y="4379976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68680" y="43799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298448" y="434340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 agent runtime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68680" y="4892040"/>
            <a:ext cx="310896" cy="310896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68680" y="4892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298448" y="485546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&amp; observability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217920" y="1554480"/>
            <a:ext cx="5394960" cy="3977640"/>
          </a:xfrm>
          <a:prstGeom prst="roundRect">
            <a:avLst>
              <a:gd name="adj" fmla="val 2299"/>
            </a:avLst>
          </a:prstGeom>
          <a:solidFill>
            <a:srgbClr val="1E2E1A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217920" y="1554480"/>
            <a:ext cx="5394960" cy="3977640"/>
          </a:xfrm>
          <a:prstGeom prst="rect">
            <a:avLst/>
          </a:prstGeom>
          <a:ln w="15875">
            <a:solidFill>
              <a:srgbClr val="E8A13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19672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REGULATED LAST MILE — BUILT ALONGSIDE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519672" y="2395728"/>
            <a:ext cx="365760" cy="36576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19672" y="2395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022592" y="2340864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PII de-identification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022592" y="2761488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masking → no assessment, no draft. Ever.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519672" y="3328416"/>
            <a:ext cx="365760" cy="36576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519672" y="3328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022592" y="3273552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sign-off gate (separation of duties)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022592" y="3694176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different qualified housing specialist, single-use token.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519672" y="4261104"/>
            <a:ext cx="365760" cy="36576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19672" y="4261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7022592" y="420624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WORM audit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7022592" y="4626864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D6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+ Object Lock; writer can't tamper.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66928" y="56692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on AWS-native services, plus the three controls regulated customers need that AgentCore doesn't ship. A stronger — and more honest — story than “we built our own platform.”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HERO USE CASE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Housing eligibility: determining voucher eligibility from an application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the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249424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404872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404872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up the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HUD limit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087368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242816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242816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De-identify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assess vs AMI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925312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080760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080760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the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763256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7918704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918704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sign-off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9601200" y="1691640"/>
            <a:ext cx="182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B7A8A"/>
                </a:solidFill>
              </a:rPr>
              <a:t>›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756648" y="1691640"/>
            <a:ext cx="1700784" cy="1234440"/>
          </a:xfrm>
          <a:prstGeom prst="roundRect">
            <a:avLst>
              <a:gd name="adj" fmla="val 5926"/>
            </a:avLst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756648" y="1691640"/>
            <a:ext cx="1700784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the</a:t>
            </a:r>
            <a:endParaRPr lang="en-US" sz="11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determination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3383280"/>
            <a:ext cx="1106424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60120" y="3794760"/>
            <a:ext cx="822960" cy="822960"/>
          </a:xfrm>
          <a:prstGeom prst="ellipse">
            <a:avLst/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60120" y="3794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2057400" y="3675888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 rule that drives the entire security design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2057400" y="4160520"/>
            <a:ext cx="9372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U.S. Housing Act and HUD regulations, a qualified housing specialist makes and commits the eligibility determination — with timely written notice and, for an adverse action, an informal hearing right before it takes effect. </a:t>
            </a:r>
            <a:pPr indent="0" marL="0">
              <a:lnSpc>
                <a:spcPct val="116000"/>
              </a:lnSpc>
              <a:buNone/>
            </a:pPr>
            <a:r>
              <a:rPr lang="en-US" sz="140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intakes, looks up the authoritative HUD limit, de-identifies, screens, and drafts — it never self-adjudicates. Everything else in this architecture exists to enforce that one sentence.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controls native, three built alongside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694944" y="151790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694944" y="151790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075688" y="1417320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human + agent identity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733288" y="1417320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Identity — inbound JWT (Cognito / authority IdP)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1933956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10" name="Shape 8"/>
          <p:cNvSpPr/>
          <p:nvPr/>
        </p:nvSpPr>
        <p:spPr>
          <a:xfrm>
            <a:off x="694944" y="203454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1" name="Text 9"/>
          <p:cNvSpPr/>
          <p:nvPr/>
        </p:nvSpPr>
        <p:spPr>
          <a:xfrm>
            <a:off x="694944" y="203454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075688" y="1933956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authorization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733288" y="1933956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Policy (Cedar) — default-deny + forbid-wins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2450592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94944" y="255117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6" name="Text 14"/>
          <p:cNvSpPr/>
          <p:nvPr/>
        </p:nvSpPr>
        <p:spPr>
          <a:xfrm>
            <a:off x="694944" y="255117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075688" y="2450592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Least-privilege intersection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733288" y="2450592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 principal = OAuthUser; group claim + tool-parameter conditions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2967228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20" name="Shape 18"/>
          <p:cNvSpPr/>
          <p:nvPr/>
        </p:nvSpPr>
        <p:spPr>
          <a:xfrm>
            <a:off x="694944" y="306781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21" name="Text 19"/>
          <p:cNvSpPr/>
          <p:nvPr/>
        </p:nvSpPr>
        <p:spPr>
          <a:xfrm>
            <a:off x="694944" y="306781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075688" y="2967228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as governed endpoints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733288" y="2967228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Gateway — Lambda → MCP tools; every call passes Policy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3483864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694944" y="358444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26" name="Text 24"/>
          <p:cNvSpPr/>
          <p:nvPr/>
        </p:nvSpPr>
        <p:spPr>
          <a:xfrm>
            <a:off x="694944" y="3584448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075688" y="3483864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hosting / runtime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733288" y="3483864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Runtime — serverless, session-isolated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66928" y="4000500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30" name="Shape 28"/>
          <p:cNvSpPr/>
          <p:nvPr/>
        </p:nvSpPr>
        <p:spPr>
          <a:xfrm>
            <a:off x="694944" y="4101084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31" name="Text 29"/>
          <p:cNvSpPr/>
          <p:nvPr/>
        </p:nvSpPr>
        <p:spPr>
          <a:xfrm>
            <a:off x="694944" y="410108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075688" y="4000500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/ observability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733288" y="4000500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 Observability — OpenTelemetry spans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66928" y="4517136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Shape 33"/>
          <p:cNvSpPr/>
          <p:nvPr/>
        </p:nvSpPr>
        <p:spPr>
          <a:xfrm>
            <a:off x="694944" y="4617720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E8A13A"/>
          </a:solidFill>
          <a:ln/>
        </p:spPr>
      </p:sp>
      <p:sp>
        <p:nvSpPr>
          <p:cNvPr id="36" name="Text 34"/>
          <p:cNvSpPr/>
          <p:nvPr/>
        </p:nvSpPr>
        <p:spPr>
          <a:xfrm>
            <a:off x="694944" y="46177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2075688" y="4517136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PII de-identification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733288" y="4517136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mask_pii tool — Comprehend DetectPiiEntities, before model &amp; audit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66928" y="5033772"/>
            <a:ext cx="11064240" cy="461772"/>
          </a:xfrm>
          <a:prstGeom prst="rect">
            <a:avLst/>
          </a:prstGeom>
          <a:solidFill>
            <a:srgbClr val="ECF1F5"/>
          </a:solidFill>
          <a:ln/>
        </p:spPr>
      </p:sp>
      <p:sp>
        <p:nvSpPr>
          <p:cNvPr id="40" name="Shape 38"/>
          <p:cNvSpPr/>
          <p:nvPr/>
        </p:nvSpPr>
        <p:spPr>
          <a:xfrm>
            <a:off x="694944" y="5134356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E8A13A"/>
          </a:solidFill>
          <a:ln/>
        </p:spPr>
      </p:sp>
      <p:sp>
        <p:nvSpPr>
          <p:cNvPr id="41" name="Text 39"/>
          <p:cNvSpPr/>
          <p:nvPr/>
        </p:nvSpPr>
        <p:spPr>
          <a:xfrm>
            <a:off x="694944" y="513435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2075688" y="5033772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sign-off gate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733288" y="5033772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Functions waitForTaskToken — bound, single-use approval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566928" y="5550408"/>
            <a:ext cx="11064240" cy="461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Shape 43"/>
          <p:cNvSpPr/>
          <p:nvPr/>
        </p:nvSpPr>
        <p:spPr>
          <a:xfrm>
            <a:off x="694944" y="5650992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E8A13A"/>
          </a:solidFill>
          <a:ln/>
        </p:spPr>
      </p:sp>
      <p:sp>
        <p:nvSpPr>
          <p:cNvPr id="46" name="Text 44"/>
          <p:cNvSpPr/>
          <p:nvPr/>
        </p:nvSpPr>
        <p:spPr>
          <a:xfrm>
            <a:off x="694944" y="565099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2075688" y="5550408"/>
            <a:ext cx="356616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WORM audit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5733288" y="5550408"/>
            <a:ext cx="571500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DynamoDB + S3 Object Lock — due-process evidence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BEHAVIOR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one governed action flows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1417320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225296" y="138074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 specialist authenticates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25296" y="167335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/ IdP issues a JWT for the person on whose behalf the agent acts.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212848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66928" y="22128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225296" y="21762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decides to call a tool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25296" y="2468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Strands agent runs on AgentCore Runtime and reaches for a Gateway tool.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008376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66928" y="3008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225296" y="297180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validates identity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25296" y="32644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auth checks the JWT before anything runs.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803904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66928" y="380390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225296" y="37673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 evaluates — default-deny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25296" y="405993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+ action + resource + conditions. A deny means the tool never runs — and is auditable.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510528" y="1417320"/>
            <a:ext cx="512064" cy="512064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10528" y="141732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168896" y="138074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Authoritative lookup, then masking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168896" y="167335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lookup_income_limit fetches the HUD limit on the non-PII county; mask_pii then de-identifies. Assessment and drafting only ever see masked text.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510528" y="2212848"/>
            <a:ext cx="512064" cy="512064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10528" y="22128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168896" y="217627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 for the commit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168896" y="2468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request_signoff opens a Step Functions gate; a second housing specialist approves. Only then does finalize_determination run.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510528" y="3008376"/>
            <a:ext cx="512064" cy="512064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510528" y="300837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7168896" y="297180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 audit + trace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168896" y="32644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and state change (with the HUD provenance) is written to an immutable record and traced in Observability.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Proof, not slideware: 30 / 30 governance checks, live on AWS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30/30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58368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checks pass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29000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29000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520440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native on AgentCore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91072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91072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A1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382512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 controls built &amp; proven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153144" y="1371600"/>
            <a:ext cx="26517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53144" y="14813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244584" y="214884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3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on teardown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2880360"/>
            <a:ext cx="110642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68680" y="30632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ran live, in ENFORCE mode, and each denial names the exact Cedar policy that fired: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96112" y="35204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3520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3474720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— housing specialist ALLOW, outsider DENY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96112" y="4032504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0325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3986784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HUD income-limit lookup with provenance (authoritative)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96112" y="454456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96112" y="45445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298448" y="4498848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Mask-before-assess &amp; mask-before-draft — un-masked processing forbidden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96112" y="5056632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96112" y="5056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298448" y="5010912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No-self-commit — the agent can't finalize a determination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309360" y="35204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309360" y="3520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711696" y="3474720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PII masking (Comprehend, fail-closed): name + SSN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309360" y="4032504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309360" y="40325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711696" y="3986784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AMI income-category + targeting engine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309360" y="454456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309360" y="45445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711696" y="4498848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Bedrock determination notice through a Guardrail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309360" y="5056632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309360" y="5056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711696" y="5010912"/>
            <a:ext cx="5074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WORM audit + human sign-off (approver ≠ requester)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ON RUNTIME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 runs on AgentCore Runtime — driven by the housing specialist's identity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3258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housing specialist authenticates with Cognito; that same identity flows to the Gateway, so Cedar evaluates the real person. The agent inherits the housing specialist's least-privilege — it can do nothing they aren't allowed to do.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28600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606040"/>
            <a:ext cx="566928" cy="56692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2606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645920" y="26060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Housing-specialist identity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14400" y="3291840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full governed workflow: intake → look up HUD limit → mask PII → assess vs AMI → draft notice → write audit → request sign-off. The forbidden finalize tool is hidden from the agent entirely by Cedar.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99632" y="2286000"/>
            <a:ext cx="5440680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47104" y="2606040"/>
            <a:ext cx="566928" cy="566928"/>
          </a:xfrm>
          <a:prstGeom prst="ellipse">
            <a:avLst/>
          </a:prstGeom>
          <a:solidFill>
            <a:srgbClr val="C0392B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547104" y="2606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278624" y="260604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Outsider identity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547104" y="3291840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denied — zero authorized tools. The agent honestly reports it did nothing: nothing looked up, masked, assessed, drafted, audited, or committed. Deny-by-default holds even when the agent is driving.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663440"/>
            <a:ext cx="5440680" cy="914400"/>
          </a:xfrm>
          <a:prstGeom prst="roundRect">
            <a:avLst>
              <a:gd name="adj" fmla="val 9000"/>
            </a:avLst>
          </a:prstGeom>
          <a:solidFill>
            <a:srgbClr val="0E2A47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41248" y="479145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OBSERVABLE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41248" y="508406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spans + structured logs per step, correlated to the identity, in CloudWatch.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99632" y="4663440"/>
            <a:ext cx="5440680" cy="914400"/>
          </a:xfrm>
          <a:prstGeom prst="roundRect">
            <a:avLst>
              <a:gd name="adj" fmla="val 9000"/>
            </a:avLst>
          </a:prstGeom>
          <a:solidFill>
            <a:srgbClr val="0E2A47"/>
          </a:solidFill>
          <a:ln/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473952" y="479145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DECOUPLED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73952" y="5084064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identity + dynamic gateway discovery: the runtime survives redeploys untouched.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REGULATED LAST MILE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controls we build on top — the review-passing difference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3529584" cy="3840480"/>
          </a:xfrm>
          <a:prstGeom prst="roundRect">
            <a:avLst>
              <a:gd name="adj" fmla="val 2591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929384"/>
            <a:ext cx="658368" cy="65836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9293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64208" y="1984248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Fail-closed PII de-identification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77824" y="2834640"/>
            <a:ext cx="2907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77824" y="3291840"/>
            <a:ext cx="29077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Comprehend de-identifies the application before the model or the audit sees it. If masking can't run, assessment and drafting are blocked — no un-masked PII is ever emitted.</a:t>
            </a:r>
            <a:endParaRPr lang="en-US" sz="1260" dirty="0"/>
          </a:p>
        </p:txBody>
      </p:sp>
      <p:sp>
        <p:nvSpPr>
          <p:cNvPr id="10" name="Shape 8"/>
          <p:cNvSpPr/>
          <p:nvPr/>
        </p:nvSpPr>
        <p:spPr>
          <a:xfrm>
            <a:off x="4315968" y="1600200"/>
            <a:ext cx="3529584" cy="3840480"/>
          </a:xfrm>
          <a:prstGeom prst="roundRect">
            <a:avLst>
              <a:gd name="adj" fmla="val 2591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26864" y="1929384"/>
            <a:ext cx="658368" cy="65836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26864" y="19293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13248" y="1984248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sign-off gate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26864" y="2834640"/>
            <a:ext cx="2907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U.S. Housing Act · separation of duties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26864" y="3291840"/>
            <a:ext cx="29077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Committing a determination is never an inline tool call. A Step Functions gate pauses for a different qualified housing specialist, who approves with a bound, single-use token.</a:t>
            </a:r>
            <a:endParaRPr lang="en-US" sz="1260" dirty="0"/>
          </a:p>
        </p:txBody>
      </p:sp>
      <p:sp>
        <p:nvSpPr>
          <p:cNvPr id="16" name="Shape 14"/>
          <p:cNvSpPr/>
          <p:nvPr/>
        </p:nvSpPr>
        <p:spPr>
          <a:xfrm>
            <a:off x="8065008" y="1600200"/>
            <a:ext cx="3529584" cy="3840480"/>
          </a:xfrm>
          <a:prstGeom prst="roundRect">
            <a:avLst>
              <a:gd name="adj" fmla="val 2591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75904" y="1929384"/>
            <a:ext cx="658368" cy="65836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375904" y="192938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162288" y="1984248"/>
            <a:ext cx="22951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Immutable WORM audit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375904" y="2834640"/>
            <a:ext cx="29077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Program-review &amp; hearing evidence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375904" y="3291840"/>
            <a:ext cx="29077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6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DynamoDB + S3 Object Lock capture INTENT → COMMITTED with the HUD provenance. The principal that writes evidence is denied delete, update, and bypass.</a:t>
            </a:r>
            <a:endParaRPr lang="en-US" sz="1260" dirty="0"/>
          </a:p>
        </p:txBody>
      </p:sp>
      <p:sp>
        <p:nvSpPr>
          <p:cNvPr id="22" name="Text 20"/>
          <p:cNvSpPr/>
          <p:nvPr/>
        </p:nvSpPr>
        <p:spPr>
          <a:xfrm>
            <a:off x="566928" y="5669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AgentCore's Observability traces are for operations — not tamper-proof evidence. That gap is exactly why the WORM audit is a control, not a log.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VALUE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matters for AWS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77824" y="1837944"/>
            <a:ext cx="548640" cy="548640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91056" y="1801368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Wins the state/local government bar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77824" y="2587752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 authorities carry strict Privacy Act, due-process, and HUD program-integrity requirements, plus StateRAMP — native governance is the deciding factor, and AWS already holds the compliance footprint.</a:t>
            </a:r>
            <a:endParaRPr lang="en-US" sz="1240" dirty="0"/>
          </a:p>
        </p:txBody>
      </p:sp>
      <p:sp>
        <p:nvSpPr>
          <p:cNvPr id="9" name="Shape 7"/>
          <p:cNvSpPr/>
          <p:nvPr/>
        </p:nvSpPr>
        <p:spPr>
          <a:xfrm>
            <a:off x="6227064" y="1508760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37960" y="1837944"/>
            <a:ext cx="548640" cy="54864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1837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51192" y="1801368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repeatable pattern, proven four times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7960" y="2587752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governed chassis produced the pharmacovigilance, benefits, financial-aid, and housing agents from one template — swap domain logic, Cedar policies, and one authoritative data source.</a:t>
            </a:r>
            <a:endParaRPr lang="en-US" sz="1240" dirty="0"/>
          </a:p>
        </p:txBody>
      </p:sp>
      <p:sp>
        <p:nvSpPr>
          <p:cNvPr id="14" name="Shape 12"/>
          <p:cNvSpPr/>
          <p:nvPr/>
        </p:nvSpPr>
        <p:spPr>
          <a:xfrm>
            <a:off x="566928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77824" y="3931920"/>
            <a:ext cx="548640" cy="548640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77824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591056" y="3895344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 blast radius, high credibility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77824" y="4681728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deep, proven hero per vertical beats a claim of forty shallow agents. Reference-grade, not vaporware.</a:t>
            </a:r>
            <a:endParaRPr lang="en-US" sz="1240" dirty="0"/>
          </a:p>
        </p:txBody>
      </p:sp>
      <p:sp>
        <p:nvSpPr>
          <p:cNvPr id="19" name="Shape 17"/>
          <p:cNvSpPr/>
          <p:nvPr/>
        </p:nvSpPr>
        <p:spPr>
          <a:xfrm>
            <a:off x="6227064" y="3602736"/>
            <a:ext cx="544068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37960" y="3931920"/>
            <a:ext cx="548640" cy="548640"/>
          </a:xfrm>
          <a:prstGeom prst="ellipse">
            <a:avLst/>
          </a:prstGeom>
          <a:solidFill>
            <a:srgbClr val="0E2A47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3796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51192" y="3895344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500" b="1" dirty="0">
                <a:solidFill>
                  <a:srgbClr val="0E2A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by construction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37960" y="4681728"/>
            <a:ext cx="4837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40" dirty="0">
                <a:solidFill>
                  <a:srgbClr val="34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clear about what's proven vs. engagement work — exactly what authorities and their auditors trust.</a:t>
            </a:r>
            <a:endParaRPr lang="en-US" sz="1240" dirty="0"/>
          </a:p>
        </p:txBody>
      </p:sp>
      <p:sp>
        <p:nvSpPr>
          <p:cNvPr id="24" name="Text 22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A27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proven vs. what's engagement work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5440680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ACCELERATOR OWNS  ·  PROVEN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96112" y="224028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2240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98448" y="219456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+ the Cedar policies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96112" y="2724912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9611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298448" y="2679192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tools + fail-closed masking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96112" y="3209544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96112" y="32095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98448" y="3163824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deterministic AMI engine + live HUD lookup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96112" y="3694176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96112" y="3694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98448" y="3648456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human-gate workflow + WORM audit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96112" y="4178808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98448" y="4133088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IaC + one-command demo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96112" y="4663440"/>
            <a:ext cx="292608" cy="292608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96112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98448" y="4617720"/>
            <a:ext cx="4526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documentation set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199632" y="1463040"/>
            <a:ext cx="5440680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2700">
            <a:solidFill>
              <a:srgbClr val="D9E1E8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01384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8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AUTHORITY OWNS  ·  ENGAGEMENT WORK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528816" y="2240280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528816" y="22402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931152" y="2185416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federation + housing-specialist role mapping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528816" y="2807208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28816" y="28072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931152" y="2752344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 to the PHA system of record (EIV / PIC / HMIS)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528816" y="3374136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528816" y="33741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931152" y="3319272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Authoritative admission rules &amp; preferences (legal review)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528816" y="3941064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528816" y="3941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931152" y="3886200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language, informal-hearing rights, appeal process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6528816" y="4507992"/>
            <a:ext cx="292608" cy="292608"/>
          </a:xfrm>
          <a:prstGeom prst="ellipse">
            <a:avLst/>
          </a:prstGeom>
          <a:solidFill>
            <a:srgbClr val="E8A13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528816" y="45079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931152" y="4453128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Computer-system validation + authorization to operate (StateRAMP)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566928" y="5440680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0E2A47"/>
          </a:solidFill>
          <a:ln/>
        </p:spPr>
      </p:sp>
      <p:sp>
        <p:nvSpPr>
          <p:cNvPr id="42" name="Text 40"/>
          <p:cNvSpPr/>
          <p:nvPr/>
        </p:nvSpPr>
        <p:spPr>
          <a:xfrm>
            <a:off x="566928" y="54406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income limits are live from HUD; the admission rules and local preferences shipped here are illustrative configuration — not authoritative rules. Nothing is production-certified on day one, and saying so is the credibility.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Agentic AI · Amazon Bedrock AgentCore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1338560" y="64190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2A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4206240"/>
            <a:ext cx="5029200" cy="5029200"/>
          </a:xfrm>
          <a:prstGeom prst="ellipse">
            <a:avLst/>
          </a:prstGeom>
          <a:solidFill>
            <a:srgbClr val="143A5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5603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411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governed pattern, four verticals proven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28016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heroes now run on the same governed chassis — identity, Cedar, Gateway, Runtime, and the three last-mile controls — produced from one reusable template. Housing is the second State &amp; Local Government proof; each new vertical is a domain-logic swap away.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02C39A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66928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HCLS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58368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Pharmacovigilance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1344168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1344168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429000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02C39A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429000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SLG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520440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 Eligibility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206240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15" name="Text 13"/>
          <p:cNvSpPr/>
          <p:nvPr/>
        </p:nvSpPr>
        <p:spPr>
          <a:xfrm>
            <a:off x="4206240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91072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15875">
            <a:solidFill>
              <a:srgbClr val="02C39A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291072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EDU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382512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Aid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068312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20" name="Text 18"/>
          <p:cNvSpPr/>
          <p:nvPr/>
        </p:nvSpPr>
        <p:spPr>
          <a:xfrm>
            <a:off x="7068312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153144" y="2286000"/>
            <a:ext cx="2651760" cy="1600200"/>
          </a:xfrm>
          <a:prstGeom prst="roundRect">
            <a:avLst>
              <a:gd name="adj" fmla="val 5714"/>
            </a:avLst>
          </a:prstGeom>
          <a:solidFill>
            <a:srgbClr val="143A5E"/>
          </a:solidFill>
          <a:ln w="25400">
            <a:solidFill>
              <a:srgbClr val="E8A13A"/>
            </a:solidFill>
            <a:prstDash val="solid"/>
          </a:ln>
          <a:effectLst>
            <a:outerShdw sx="100000" sy="100000" kx="0" ky="0" algn="bl" rotWithShape="0" blurRad="114300" dist="38100" dir="5400000">
              <a:srgbClr val="0A1F33">
                <a:alpha val="2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153144" y="248716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SLG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244584" y="2999232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Housing Eligibility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930384" y="3529584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25" name="Text 23"/>
          <p:cNvSpPr/>
          <p:nvPr/>
        </p:nvSpPr>
        <p:spPr>
          <a:xfrm>
            <a:off x="9930384" y="35295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6928" y="4251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66928" y="4709160"/>
            <a:ext cx="457200" cy="45720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66928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170432" y="46908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demo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170432" y="500176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the stack live and walk leadership through the 30-check proof.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279392" y="4709160"/>
            <a:ext cx="457200" cy="45720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279392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4882896" y="46908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workshops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882896" y="500176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pattern to housing-authority and SLG accounts as a reference architecture.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7991856" y="4709160"/>
            <a:ext cx="457200" cy="457200"/>
          </a:xfrm>
          <a:prstGeom prst="ellipse">
            <a:avLst/>
          </a:prstGeom>
          <a:solidFill>
            <a:srgbClr val="02C39A"/>
          </a:solidFill>
          <a:ln/>
          <a:effectLst>
            <a:outerShdw sx="100000" sy="100000" kx="0" ky="0" algn="bl" rotWithShape="0" blurRad="76200" dist="25400" dir="5400000">
              <a:srgbClr val="0A1F33">
                <a:alpha val="18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7991856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2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595360" y="4690872"/>
            <a:ext cx="301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pilot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595360" y="500176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pilot on synthetic applications with a named housing authority, boundary made explicit.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566928" y="60807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agentic AI, native on AWS — proven where the bar is highest.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Governed Agentic AI for Housing Choice Voucher Eligibility</dc:title>
  <dc:subject>PptxGenJS Presentation</dc:subject>
  <dc:creator>Housing Eligibility AgentCore Accelerator</dc:creator>
  <cp:lastModifiedBy>Housing Eligibility AgentCore Accelerator</cp:lastModifiedBy>
  <cp:revision>1</cp:revision>
  <dcterms:created xsi:type="dcterms:W3CDTF">2026-07-17T18:40:58Z</dcterms:created>
  <dcterms:modified xsi:type="dcterms:W3CDTF">2026-07-17T18:40:58Z</dcterms:modified>
</cp:coreProperties>
</file>